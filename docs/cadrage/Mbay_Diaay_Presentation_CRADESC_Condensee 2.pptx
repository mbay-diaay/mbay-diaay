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4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28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463040"/>
            <a:ext cx="3840480" cy="3840480"/>
          </a:xfrm>
          <a:prstGeom prst="ellipse">
            <a:avLst/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1064240" y="5120640"/>
            <a:ext cx="2377440" cy="2377440"/>
          </a:xfrm>
          <a:prstGeom prst="ellipse">
            <a:avLst/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NDIAYE AGRO SERVICE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691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Mbay Diaay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numérique des producteurs et organisations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producteurs de la Zone des Niayes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TECHNIQUE ET FINANCIÈRE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43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Présentée à l'attention du CRADESC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de Recherche et d'Action sur les Droits Économiques, Sociaux et Culturels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806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Mbaye NDIAYE  Chef de mission, Ingénieur Agroéconomiste
</a:t>
            </a:r>
            <a:r>
              <a:rPr lang="en-US" sz="1200" dirty="0">
                <a:solidFill>
                  <a:srgbClr val="A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Dakar, le 18 juin 2026   ·   Ouest Foire, Cité Xandar, Dakar, Sénégal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D9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allons parcourir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89280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Cabinet CANAS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2585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nous sommes, notre référence DIGICOOP, notre ancrage Niayes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1272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de la mission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49300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cinq défis des OP et notre lecture du terrain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343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43616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Méthodologie, architecture &amp; sécurité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72744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approche technique, l'offline-first, les données et le SIG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336792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114032" y="189280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calendrier &amp; livrables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114032" y="22585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périmètre garanti et la priorisation en 12 semaines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336792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114032" y="31272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&amp; équipe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114032" y="349300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dispositif de formation en cascade et l'équipe mobilisée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4343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7114032" y="43616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financière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114032" y="472744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échéancier de paiement et valeur ajoutée CANAS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CANAS · Mbay Diaay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D9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LE CABINET CANAS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bureau d'études agro-numérique déjà éprouvé sur le terrain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F1F5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nous sommes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9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2020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529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55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complète de l'investissement agricole au Sénégal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9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régions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301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55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Sénégal couvertes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1148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9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domaines d'expertise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4074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55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 web/mobile, SIG, bases de données agricoles, UX rurale, </a:t>
            </a:r>
            <a:r>
              <a:rPr lang="en-US" sz="1150" dirty="0" err="1" smtClean="0">
                <a:solidFill>
                  <a:srgbClr val="355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agronomie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0749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55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 outil numérique agricole qui n'a pas été conçu par des personnes qui connaissent le terrain ne sera jamais adopté par ceux qui y travaillent. 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06440" y="1828800"/>
            <a:ext cx="5928055" cy="2057400"/>
          </a:xfrm>
          <a:prstGeom prst="roundRect">
            <a:avLst>
              <a:gd name="adj" fmla="val 3556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6080760" y="2011680"/>
            <a:ext cx="5379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smtClean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DIGICOOP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2423160"/>
            <a:ext cx="5379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app.digicoops.com : gestion des membres, marketplace, financement, web &amp; mobile,  les choix d'architecture et l'UX sont déjà validés et </a:t>
            </a:r>
            <a:r>
              <a:rPr lang="en-US" sz="1250" dirty="0" smtClean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transposable </a:t>
            </a:r>
            <a:r>
              <a:rPr lang="en-US" sz="12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Mbay Diaay.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806440" y="4023360"/>
            <a:ext cx="5928055" cy="2148840"/>
          </a:xfrm>
          <a:prstGeom prst="roundRect">
            <a:avLst>
              <a:gd name="adj" fmla="val 3404"/>
            </a:avLst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6080760" y="4206240"/>
            <a:ext cx="5379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Ancrage documenté dans les Niayes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80759" y="4495800"/>
            <a:ext cx="5379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terrain continues auprès de l'AUMN (projet JAFOWA 2025) : études de marché sur 4 filières, 9 comptes d'exploitation, centaines de producteurs déjà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formés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 atout qu'aucun autre prestataire ne possède.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CANAS · Mbay Diaay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D9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COMPRÉHENSION DE LA MISSION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défis, un même besoin fondamental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2123785" cy="2926080"/>
          </a:xfrm>
          <a:prstGeom prst="roundRect">
            <a:avLst>
              <a:gd name="adj" fmla="val 3444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299637" y="219456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1299637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788920"/>
            <a:ext cx="19043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administrative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74720"/>
            <a:ext cx="190432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Registres papier et Excel disparates, aucune vue consolidée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5577" y="1965960"/>
            <a:ext cx="2123785" cy="2926080"/>
          </a:xfrm>
          <a:prstGeom prst="roundRect">
            <a:avLst>
              <a:gd name="adj" fmla="val 3444"/>
            </a:avLst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588014" y="219456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3588014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55305" y="2788920"/>
            <a:ext cx="19043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agro-économique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855305" y="3474720"/>
            <a:ext cx="190432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suivi des itinéraires culturaux ni des comptes d'exploitation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33955" y="1965960"/>
            <a:ext cx="2123785" cy="2926080"/>
          </a:xfrm>
          <a:prstGeom prst="roundRect">
            <a:avLst>
              <a:gd name="adj" fmla="val 3444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876392" y="219456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5876392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143683" y="2788920"/>
            <a:ext cx="19043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&amp; commercialisation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143683" y="3474720"/>
            <a:ext cx="190432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Pertes post-récolte de 15 à 25 %, rien n'est tracé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22332" y="1965960"/>
            <a:ext cx="2123785" cy="2926080"/>
          </a:xfrm>
          <a:prstGeom prst="roundRect">
            <a:avLst>
              <a:gd name="adj" fmla="val 3444"/>
            </a:avLst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8164769" y="219456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8164769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32060" y="2788920"/>
            <a:ext cx="19043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&amp; planification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432060" y="3474720"/>
            <a:ext cx="190432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s'engager sur des volumes avec les acheteurs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10710" y="1965960"/>
            <a:ext cx="2123785" cy="2926080"/>
          </a:xfrm>
          <a:prstGeom prst="roundRect">
            <a:avLst>
              <a:gd name="adj" fmla="val 3444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10453146" y="219456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10453146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720438" y="2788920"/>
            <a:ext cx="19043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géographique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720438" y="3474720"/>
            <a:ext cx="190432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cartographie fiable, superficies approximatives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51663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F1F5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 txBox="1"/>
          <p:nvPr/>
        </p:nvSpPr>
        <p:spPr>
          <a:xfrm>
            <a:off x="822960" y="516636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conducteur : donner aux producteurs et aux OP une vision unifiée et exploitable de </a:t>
            </a:r>
            <a:r>
              <a:rPr lang="en-US" sz="1300" b="1" dirty="0" err="1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leur</a:t>
            </a: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</a:t>
            </a: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 de la parcelle géoréférencée jusqu'à la transaction commerciale.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CANAS · Mbay Diaay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D9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MÉTHODOLOGIE, ARCHITECTURE &amp; SÉCURITÉ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monolithe modulaire NestJS, piloté par 5 principes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46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Agilité (sprints de 2 semaines)  ·  Co-conception avec les OP  ·  Priorisation MoSCoW  ·  Offline-first par défaut  ·  Transfert de compétences continu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074920" cy="4389120"/>
          </a:xfrm>
          <a:prstGeom prst="roundRect">
            <a:avLst>
              <a:gd name="adj" fmla="val 1667"/>
            </a:avLst>
          </a:prstGeom>
          <a:solidFill>
            <a:srgbClr val="F1F5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un monolithe modulaire ?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2615184"/>
            <a:ext cx="201168" cy="201168"/>
          </a:xfrm>
          <a:prstGeom prst="ellipse">
            <a:avLst/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1143000" y="2560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(3 mois)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8529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D9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Réaliste et adapté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300984"/>
            <a:ext cx="201168" cy="201168"/>
          </a:xfrm>
          <a:prstGeom prst="ellipse">
            <a:avLst/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1143000" y="3246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Maintenabilité par CRADESC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5387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D9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à maintenir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986784"/>
            <a:ext cx="201168" cy="201168"/>
          </a:xfrm>
          <a:prstGeom prst="ellipse">
            <a:avLst/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1143000" y="3931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d'hébergement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2245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D9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(1 VPS)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672584"/>
            <a:ext cx="201168" cy="201168"/>
          </a:xfrm>
          <a:prstGeom prst="ellipse">
            <a:avLst/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1143000" y="4617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Évolutivité future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9103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D9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Extractable par module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44068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55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extractibles sans réécriture : AdminModule · CommercialModule · AgriModule · SIGModule · ExploitationModule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06440" y="1783080"/>
            <a:ext cx="5928055" cy="658368"/>
          </a:xfrm>
          <a:prstGeom prst="roundRect">
            <a:avLst>
              <a:gd name="adj" fmla="val 8333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6080760" y="17830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001000" y="1783080"/>
            <a:ext cx="3459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(Dart)  offline-first, GPS terrain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06440" y="2523744"/>
            <a:ext cx="5928055" cy="658368"/>
          </a:xfrm>
          <a:prstGeom prst="roundRect">
            <a:avLst>
              <a:gd name="adj" fmla="val 8333"/>
            </a:avLst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6080760" y="252374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2523744"/>
            <a:ext cx="3459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(TypeScript)  admin, cartographie Leaflet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06440" y="3264408"/>
            <a:ext cx="5928055" cy="658368"/>
          </a:xfrm>
          <a:prstGeom prst="roundRect">
            <a:avLst>
              <a:gd name="adj" fmla="val 8333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6080760" y="32644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Backend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001000" y="3264408"/>
            <a:ext cx="3459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</a:t>
            </a:r>
            <a:r>
              <a:rPr lang="en-US" sz="11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REST modulaire, JWT + RBAC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806440" y="4005072"/>
            <a:ext cx="5928055" cy="658368"/>
          </a:xfrm>
          <a:prstGeom prst="roundRect">
            <a:avLst>
              <a:gd name="adj" fmla="val 8333"/>
            </a:avLst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 txBox="1"/>
          <p:nvPr/>
        </p:nvSpPr>
        <p:spPr>
          <a:xfrm>
            <a:off x="6080760" y="400507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001000" y="4005072"/>
            <a:ext cx="3459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PostGIS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806440" y="4745736"/>
            <a:ext cx="5928055" cy="658368"/>
          </a:xfrm>
          <a:prstGeom prst="roundRect">
            <a:avLst>
              <a:gd name="adj" fmla="val 8333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 txBox="1"/>
          <p:nvPr/>
        </p:nvSpPr>
        <p:spPr>
          <a:xfrm>
            <a:off x="6080760" y="474573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&amp; synchro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001000" y="4745736"/>
            <a:ext cx="3459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BullMQ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806440" y="5486400"/>
            <a:ext cx="5928055" cy="658368"/>
          </a:xfrm>
          <a:prstGeom prst="roundRect">
            <a:avLst>
              <a:gd name="adj" fmla="val 8333"/>
            </a:avLst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 txBox="1"/>
          <p:nvPr/>
        </p:nvSpPr>
        <p:spPr>
          <a:xfrm>
            <a:off x="6080760" y="5486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&amp; infra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001000" y="5486400"/>
            <a:ext cx="3459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· Docker · GitHub Actions · Sentry/Grafana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CANAS · Mbay Diaay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A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MÉTHODOLOGIE, ARCHITECTURE &amp; SÉCURITÉ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architecture unique et centralisée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98448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modules ne sont pas développés séparément : ils s'appuient tous sur la même architecture.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280160" y="1783080"/>
            <a:ext cx="9628632" cy="777240"/>
          </a:xfrm>
          <a:prstGeom prst="roundRect">
            <a:avLst>
              <a:gd name="adj" fmla="val 9412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1600200" y="17830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mobile  : Flutter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78308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hors-ligne · stockage local SQLite · GPS terrain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957316" y="2542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80160" y="2697480"/>
            <a:ext cx="9628632" cy="777240"/>
          </a:xfrm>
          <a:prstGeom prst="roundRect">
            <a:avLst>
              <a:gd name="adj" fmla="val 9412"/>
            </a:avLst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1600200" y="2697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/ API : NestJS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69748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· rôles · synchronisation · logique métier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957316" y="34564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80160" y="3611880"/>
            <a:ext cx="9628632" cy="777240"/>
          </a:xfrm>
          <a:prstGeom prst="roundRect">
            <a:avLst>
              <a:gd name="adj" fmla="val 9412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1600200" y="3611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données : PostgreSQL + PostGIS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361188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Producteurs · parcelles · campagnes · transactions · stocks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57316" y="43708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80160" y="4526280"/>
            <a:ext cx="9628632" cy="777240"/>
          </a:xfrm>
          <a:prstGeom prst="roundRect">
            <a:avLst>
              <a:gd name="adj" fmla="val 9412"/>
            </a:avLst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1600200" y="4526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web :  Angular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452628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· tableaux de bord · cartographie · rapports &amp; exports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57784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 mise en production déjà prévue : Docker · VPS · GitHub Actions · Redis/BullMQ · MinIO · Sentry / Grafana / Loki.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CANAS · Mbay Diaay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A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MÉTHODOLOGIE, ARCHITECTURE &amp; SÉCURITÉ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différenciateur : le fonctionnement hors-ligne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98448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connectivité dans les Niayes est irrégulière : l'application doit toujours fonctionner.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635709" cy="1600200"/>
          </a:xfrm>
          <a:prstGeom prst="roundRect">
            <a:avLst>
              <a:gd name="adj" fmla="val 4571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073887" y="2331720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1073887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834640"/>
            <a:ext cx="14894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sur le terrain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092909" y="27660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385517" y="2148840"/>
            <a:ext cx="1635709" cy="1600200"/>
          </a:xfrm>
          <a:prstGeom prst="roundRect">
            <a:avLst>
              <a:gd name="adj" fmla="val 4571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002204" y="2331720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3002204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458669" y="2834640"/>
            <a:ext cx="14894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local (SQLite)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021226" y="27660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13834" y="2148840"/>
            <a:ext cx="1635709" cy="1600200"/>
          </a:xfrm>
          <a:prstGeom prst="roundRect">
            <a:avLst>
              <a:gd name="adj" fmla="val 4571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930521" y="2331720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4930521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386986" y="2834640"/>
            <a:ext cx="14894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de synchronisation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949544" y="27660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42152" y="2148840"/>
            <a:ext cx="1635709" cy="1600200"/>
          </a:xfrm>
          <a:prstGeom prst="roundRect">
            <a:avLst>
              <a:gd name="adj" fmla="val 4571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858838" y="2331720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6858838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15304" y="2834640"/>
            <a:ext cx="14894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disponible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877861" y="27660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70469" y="2148840"/>
            <a:ext cx="1635709" cy="1600200"/>
          </a:xfrm>
          <a:prstGeom prst="roundRect">
            <a:avLst>
              <a:gd name="adj" fmla="val 4571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8787155" y="2331720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8787155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43621" y="2834640"/>
            <a:ext cx="14894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 avec le serveur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806178" y="27660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098786" y="2148840"/>
            <a:ext cx="1635709" cy="1600200"/>
          </a:xfrm>
          <a:prstGeom prst="roundRect">
            <a:avLst>
              <a:gd name="adj" fmla="val 4571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10715473" y="2331720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 txBox="1"/>
          <p:nvPr/>
        </p:nvSpPr>
        <p:spPr>
          <a:xfrm>
            <a:off x="10715473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171938" y="2834640"/>
            <a:ext cx="14894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base centrale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42062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 txBox="1"/>
          <p:nvPr/>
        </p:nvSpPr>
        <p:spPr>
          <a:xfrm>
            <a:off x="822960" y="420624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travaille normalement, avec ou sans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la synchronisation est automatique et invisible.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CANAS · Mbay Diaay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D9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MÉTHODOLOGIE, ARCHITECTURE &amp; SÉCURITÉ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donnée saisie une fois, réutilisée jusque dans la cartographie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666189" cy="868680"/>
          </a:xfrm>
          <a:prstGeom prst="roundRect">
            <a:avLst>
              <a:gd name="adj" fmla="val 7368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12064" y="1691640"/>
            <a:ext cx="15564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Producteur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123389" y="16916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79421" y="1691640"/>
            <a:ext cx="1666189" cy="868680"/>
          </a:xfrm>
          <a:prstGeom prst="roundRect">
            <a:avLst>
              <a:gd name="adj" fmla="val 7368"/>
            </a:avLst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2434285" y="1691640"/>
            <a:ext cx="15564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&amp; Exploitation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045610" y="16916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01642" y="1691640"/>
            <a:ext cx="1666189" cy="868680"/>
          </a:xfrm>
          <a:prstGeom prst="roundRect">
            <a:avLst>
              <a:gd name="adj" fmla="val 7368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4356506" y="1691640"/>
            <a:ext cx="15564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967832" y="16916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23864" y="1691640"/>
            <a:ext cx="1666189" cy="868680"/>
          </a:xfrm>
          <a:prstGeom prst="roundRect">
            <a:avLst>
              <a:gd name="adj" fmla="val 7368"/>
            </a:avLst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6278728" y="1691640"/>
            <a:ext cx="15564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&amp; Culture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890053" y="16916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46085" y="1691640"/>
            <a:ext cx="1666189" cy="868680"/>
          </a:xfrm>
          <a:prstGeom prst="roundRect">
            <a:avLst>
              <a:gd name="adj" fmla="val 7368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8200949" y="1691640"/>
            <a:ext cx="15564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/ Production / Ventes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812274" y="16916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068306" y="1691640"/>
            <a:ext cx="1666189" cy="868680"/>
          </a:xfrm>
          <a:prstGeom prst="roundRect">
            <a:avLst>
              <a:gd name="adj" fmla="val 7368"/>
            </a:avLst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10123170" y="1691640"/>
            <a:ext cx="15564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Rentabilité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8803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SIG transforme ensuite chaque parcelle en donnée exploitable 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465576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457200" y="3465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64108" y="3337560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Géolocalisée &amp; dessinée en polygone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36792" y="3465576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6336792" y="3465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75704" y="3366516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 calculée automatiquement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4151376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457200" y="420624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64108" y="4023360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Liée à un producteur, une culture et une campagne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36792" y="4151376"/>
            <a:ext cx="329184" cy="3291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 txBox="1"/>
          <p:nvPr/>
        </p:nvSpPr>
        <p:spPr>
          <a:xfrm>
            <a:off x="6336792" y="4151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775704" y="4041648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Consultable sur le web et utilisée dans les rapports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7200" y="507492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 txBox="1"/>
          <p:nvPr/>
        </p:nvSpPr>
        <p:spPr>
          <a:xfrm>
            <a:off x="457200" y="5074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 ·  Leaflet.js  ·  PostGIS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CANAS · Mbay Diaay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D9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MÉTHODOLOGIE, ARCHITECTURE &amp; SÉCURITÉ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sécurité pensée par niveau d'accès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98448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46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profil ne voit et ne peut modifier que ce qui le concerne.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F1F5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protège les données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679192"/>
            <a:ext cx="201168" cy="201168"/>
          </a:xfrm>
          <a:prstGeom prst="ellipse">
            <a:avLst/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1143000" y="265176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55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sécurisée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227832"/>
            <a:ext cx="201168" cy="201168"/>
          </a:xfrm>
          <a:prstGeom prst="ellipse">
            <a:avLst/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1143000" y="32004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55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refresh token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76472"/>
            <a:ext cx="201168" cy="201168"/>
          </a:xfrm>
          <a:prstGeom prst="ellipse">
            <a:avLst/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1143000" y="374904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55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Connexions chiffrées (HTTPS)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4325112"/>
            <a:ext cx="201168" cy="201168"/>
          </a:xfrm>
          <a:prstGeom prst="ellipse">
            <a:avLst/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1143000" y="429768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55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des données stockées localement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4873752"/>
            <a:ext cx="201168" cy="201168"/>
          </a:xfrm>
          <a:prstGeom prst="ellipse">
            <a:avLst/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1143000" y="48463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55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Journalisation des actions importantes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5422392"/>
            <a:ext cx="201168" cy="201168"/>
          </a:xfrm>
          <a:prstGeom prst="ellipse">
            <a:avLst/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1143000" y="539496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55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régulières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06440" y="1828800"/>
            <a:ext cx="5928055" cy="932688"/>
          </a:xfrm>
          <a:prstGeom prst="roundRect">
            <a:avLst>
              <a:gd name="adj" fmla="val 7843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6080760" y="1938528"/>
            <a:ext cx="5379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Producteur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2286000"/>
            <a:ext cx="5379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ses propres saisies et données terrain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806440" y="2880360"/>
            <a:ext cx="5928055" cy="932688"/>
          </a:xfrm>
          <a:prstGeom prst="roundRect">
            <a:avLst>
              <a:gd name="adj" fmla="val 7843"/>
            </a:avLst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6080760" y="2990088"/>
            <a:ext cx="5379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080760" y="3337560"/>
            <a:ext cx="5379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données de sa coopérative et outils terrain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806440" y="3931920"/>
            <a:ext cx="5928055" cy="932688"/>
          </a:xfrm>
          <a:prstGeom prst="roundRect">
            <a:avLst>
              <a:gd name="adj" fmla="val 7843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6080760" y="4041648"/>
            <a:ext cx="5379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d'OP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080760" y="4389120"/>
            <a:ext cx="5379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consolidée de son organisation, validation des données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806440" y="4983480"/>
            <a:ext cx="5928055" cy="932688"/>
          </a:xfrm>
          <a:prstGeom prst="roundRect">
            <a:avLst>
              <a:gd name="adj" fmla="val 7843"/>
            </a:avLst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6080760" y="5093208"/>
            <a:ext cx="5379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 CRADESC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080760" y="5440680"/>
            <a:ext cx="5379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globale, administration complète, rapports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CANAS · Mbay Diaay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A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MODULES, CALENDRIER &amp; LIVRABLES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modules, un périmètre garanti — pas une promesse de tout en 3 mois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123785" cy="640080"/>
          </a:xfrm>
          <a:prstGeom prst="roundRect">
            <a:avLst>
              <a:gd name="adj" fmla="val 8571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02920" y="1691640"/>
            <a:ext cx="2032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Administratif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5577" y="1691640"/>
            <a:ext cx="2123785" cy="640080"/>
          </a:xfrm>
          <a:prstGeom prst="roundRect">
            <a:avLst>
              <a:gd name="adj" fmla="val 8571"/>
            </a:avLst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2791297" y="1691640"/>
            <a:ext cx="2032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Commercial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33955" y="1691640"/>
            <a:ext cx="2123785" cy="640080"/>
          </a:xfrm>
          <a:prstGeom prst="roundRect">
            <a:avLst>
              <a:gd name="adj" fmla="val 8571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5079675" y="1691640"/>
            <a:ext cx="2032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Compte d'exploitation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22332" y="1691640"/>
            <a:ext cx="2123785" cy="640080"/>
          </a:xfrm>
          <a:prstGeom prst="roundRect">
            <a:avLst>
              <a:gd name="adj" fmla="val 8571"/>
            </a:avLst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7368052" y="1691640"/>
            <a:ext cx="2032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Agronomique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10710" y="1691640"/>
            <a:ext cx="2123785" cy="640080"/>
          </a:xfrm>
          <a:prstGeom prst="roundRect">
            <a:avLst>
              <a:gd name="adj" fmla="val 8571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9656430" y="1691640"/>
            <a:ext cx="20323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· SIG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" y="2590800"/>
            <a:ext cx="3576218" cy="3566160"/>
          </a:xfrm>
          <a:prstGeom prst="roundRect">
            <a:avLst>
              <a:gd name="adj" fmla="val 2051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731520" y="2862072"/>
            <a:ext cx="3027578" cy="45720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731520" y="2862072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 en 12 semaines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362102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1024128" y="3454400"/>
            <a:ext cx="27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Commercial, Exploitation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4151376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1024128" y="3986784"/>
            <a:ext cx="27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Agronomique, SIG offline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681728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1024128" y="4515104"/>
            <a:ext cx="27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RBAC complète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07738" y="2606040"/>
            <a:ext cx="3576218" cy="3566160"/>
          </a:xfrm>
          <a:prstGeom prst="roundRect">
            <a:avLst>
              <a:gd name="adj" fmla="val 2051"/>
            </a:avLst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582058" y="2862072"/>
            <a:ext cx="3027578" cy="45720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4582058" y="2862072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planning le permet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27778" y="362102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4869362" y="3454400"/>
            <a:ext cx="27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automatiques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27778" y="4151376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4869362" y="3986784"/>
            <a:ext cx="27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Excel / CSV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27778" y="4681728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 txBox="1"/>
          <p:nvPr/>
        </p:nvSpPr>
        <p:spPr>
          <a:xfrm>
            <a:off x="4869362" y="4515104"/>
            <a:ext cx="27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avancée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58277" y="2606040"/>
            <a:ext cx="3576218" cy="3566160"/>
          </a:xfrm>
          <a:prstGeom prst="roundRect">
            <a:avLst>
              <a:gd name="adj" fmla="val 2051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8432597" y="2862072"/>
            <a:ext cx="3027578" cy="45720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 txBox="1"/>
          <p:nvPr/>
        </p:nvSpPr>
        <p:spPr>
          <a:xfrm>
            <a:off x="8432597" y="2862072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d'évolution futures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478317" y="362102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 txBox="1"/>
          <p:nvPr/>
        </p:nvSpPr>
        <p:spPr>
          <a:xfrm>
            <a:off x="8707222" y="3454400"/>
            <a:ext cx="27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mobile / USSD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478317" y="4151376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 txBox="1"/>
          <p:nvPr/>
        </p:nvSpPr>
        <p:spPr>
          <a:xfrm>
            <a:off x="8752637" y="3986784"/>
            <a:ext cx="27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météo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478317" y="4681728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 txBox="1"/>
          <p:nvPr/>
        </p:nvSpPr>
        <p:spPr>
          <a:xfrm>
            <a:off x="8707222" y="4520692"/>
            <a:ext cx="2707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analytique avancé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CANAS · Mbay Diaay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D9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MODULES, CALENDRIER &amp; LIVRABLES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Douze semaines, quatre phases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2647874" cy="4160520"/>
          </a:xfrm>
          <a:prstGeom prst="roundRect">
            <a:avLst>
              <a:gd name="adj" fmla="val 2763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713232" y="2148840"/>
            <a:ext cx="21906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468880"/>
            <a:ext cx="21906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&amp; Conception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13232" y="32461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F24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713232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– S3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840480"/>
            <a:ext cx="214495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Ateliers terrain, priorisation MoSCoW, architecture technique validée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3674" y="1874520"/>
            <a:ext cx="2647874" cy="4160520"/>
          </a:xfrm>
          <a:prstGeom prst="roundRect">
            <a:avLst>
              <a:gd name="adj" fmla="val 2763"/>
            </a:avLst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3589706" y="2148840"/>
            <a:ext cx="21906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89706" y="2468880"/>
            <a:ext cx="21906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Développement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589706" y="32461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4F7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3589706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– S9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589706" y="3840480"/>
            <a:ext cx="214495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sprints de 2 semaines : Admin/RBAC → Agro/Exploitation/SIG → Commercial/Sync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0148" y="1874520"/>
            <a:ext cx="2647874" cy="4160520"/>
          </a:xfrm>
          <a:prstGeom prst="roundRect">
            <a:avLst>
              <a:gd name="adj" fmla="val 2763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6466180" y="2148840"/>
            <a:ext cx="21906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66180" y="2468880"/>
            <a:ext cx="21906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&amp; Validation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66180" y="32461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F24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646618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 – S10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66180" y="3840480"/>
            <a:ext cx="214495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fonctionnels, offline, charge, sécurité et UAT terrain dans 2-3 coopératives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86621" y="1874520"/>
            <a:ext cx="2647874" cy="4160520"/>
          </a:xfrm>
          <a:prstGeom prst="roundRect">
            <a:avLst>
              <a:gd name="adj" fmla="val 2763"/>
            </a:avLst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9342653" y="2148840"/>
            <a:ext cx="21906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342653" y="2468880"/>
            <a:ext cx="21906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 &amp; Formation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342653" y="32461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4F7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9342653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 – S12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342653" y="3840480"/>
            <a:ext cx="214495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production, import des données, formation en cascade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CANAS · Mbay Diaay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D9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FORMATION &amp; ÉQUIPE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équipe pluridisciplinaire et une formation en cascade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868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Formation en cascade, en trois niveaux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81141"/>
            <a:ext cx="5394960" cy="896112"/>
          </a:xfrm>
          <a:prstGeom prst="roundRect">
            <a:avLst>
              <a:gd name="adj" fmla="val 7143"/>
            </a:avLst>
          </a:prstGeom>
          <a:solidFill>
            <a:srgbClr val="F1F5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685800" y="199475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: Administrateurs CRADESC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14798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55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pers. · 2 jours à Dakar : administration complète, rapports, maintenance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53512"/>
            <a:ext cx="5394960" cy="896112"/>
          </a:xfrm>
          <a:prstGeom prst="roundRect">
            <a:avLst>
              <a:gd name="adj" fmla="val 7143"/>
            </a:avLst>
          </a:prstGeom>
          <a:solidFill>
            <a:srgbClr val="E7EED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685800" y="30449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: Techniciens des coopératives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364992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55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 pers. · 1 jour/groupe sur le terrain : tous les modules, GPS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133613"/>
            <a:ext cx="5394960" cy="896112"/>
          </a:xfrm>
          <a:prstGeom prst="roundRect">
            <a:avLst>
              <a:gd name="adj" fmla="val 7143"/>
            </a:avLst>
          </a:prstGeom>
          <a:solidFill>
            <a:srgbClr val="F1F5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685800" y="4225053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: </a:t>
            </a:r>
            <a:r>
              <a:rPr lang="en-US" sz="1250" b="1" dirty="0" err="1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Producteurs</a:t>
            </a:r>
            <a:r>
              <a:rPr lang="en-US" sz="12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membres des OP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545093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55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OP · sessions de 2-3h en wolof : actions essentielles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4406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 post-déploiement : 4 semaines de support à distance (téléphone &amp; WhatsApp), suivi hebdomadaire de l'adoption.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094476" y="1418686"/>
            <a:ext cx="5559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équipe de </a:t>
            </a:r>
            <a:r>
              <a:rPr lang="en-US" sz="1500" b="1" dirty="0" smtClean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</a:t>
            </a:r>
            <a:r>
              <a:rPr lang="en-US" sz="1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72200" y="1759010"/>
            <a:ext cx="548640" cy="548640"/>
          </a:xfrm>
          <a:prstGeom prst="ellipse">
            <a:avLst/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6172200" y="177498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smtClean="0">
                <a:solidFill>
                  <a:srgbClr val="FFFFFF"/>
                </a:solidFill>
                <a:latin typeface="Calibri" pitchFamily="34" charset="0"/>
              </a:rPr>
              <a:t>IA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839712" y="175669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 smtClean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</a:t>
            </a:r>
            <a:r>
              <a:rPr lang="en-US" sz="1200" b="1" dirty="0" smtClean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 smtClean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agroéconomiste</a:t>
            </a:r>
            <a:r>
              <a:rPr lang="en-US" sz="1200" b="1" dirty="0" smtClean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mission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39712" y="2034749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générale, relation CRADESC, rapport final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3044952"/>
            <a:ext cx="548640" cy="548640"/>
          </a:xfrm>
          <a:prstGeom prst="ellipse">
            <a:avLst/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6172200" y="3044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3026664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Full-Stack Senior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31927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backend, API REST, PostgreSQL/PostGIS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3803904"/>
            <a:ext cx="548640" cy="548640"/>
          </a:xfrm>
          <a:prstGeom prst="ellipse">
            <a:avLst/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6172200" y="3803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378561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Mobile Flutter Senior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4078224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mobile, offline-first, GPS, synchronisation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4562856"/>
            <a:ext cx="548640" cy="548640"/>
          </a:xfrm>
          <a:prstGeom prst="ellipse">
            <a:avLst/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6172200" y="4562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454456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Géomaticien / Expert SIG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483717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Géoréférencement, cartographie interactive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72200" y="5321808"/>
            <a:ext cx="548640" cy="548640"/>
          </a:xfrm>
          <a:prstGeom prst="ellipse">
            <a:avLst/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 txBox="1"/>
          <p:nvPr/>
        </p:nvSpPr>
        <p:spPr>
          <a:xfrm>
            <a:off x="6172200" y="5321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5303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 smtClean="0">
                <a:solidFill>
                  <a:srgbClr val="1F3D2B"/>
                </a:solidFill>
                <a:latin typeface="Calibri" pitchFamily="34" charset="0"/>
              </a:rPr>
              <a:t>Gestionnaire</a:t>
            </a:r>
            <a:r>
              <a:rPr lang="en-US" sz="1200" b="1" dirty="0" smtClean="0">
                <a:solidFill>
                  <a:srgbClr val="1F3D2B"/>
                </a:solidFill>
                <a:latin typeface="Calibri" pitchFamily="34" charset="0"/>
              </a:rPr>
              <a:t> de </a:t>
            </a:r>
            <a:r>
              <a:rPr lang="en-US" sz="1200" b="1" dirty="0" err="1" smtClean="0">
                <a:solidFill>
                  <a:srgbClr val="1F3D2B"/>
                </a:solidFill>
                <a:latin typeface="Calibri" pitchFamily="34" charset="0"/>
              </a:rPr>
              <a:t>données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559612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Ateliers besoins, focus groups en wolof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5989320"/>
            <a:ext cx="11277295" cy="0"/>
          </a:xfrm>
          <a:prstGeom prst="line">
            <a:avLst/>
          </a:prstGeom>
          <a:noFill/>
          <a:ln w="12700">
            <a:solidFill>
              <a:srgbClr val="DADFD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 txBox="1"/>
          <p:nvPr/>
        </p:nvSpPr>
        <p:spPr>
          <a:xfrm>
            <a:off x="457200" y="608076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répartition des responsabilités techniques (architecture, backend, web, mobile, SIG, sécurité, tests, déploiement, documentation) sera définie au démarrage, pour éviter tout chevauchement.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CANAS · Mbay Diaay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2" name="Shape 14"/>
          <p:cNvSpPr/>
          <p:nvPr/>
        </p:nvSpPr>
        <p:spPr>
          <a:xfrm>
            <a:off x="6172200" y="2415170"/>
            <a:ext cx="548640" cy="548640"/>
          </a:xfrm>
          <a:prstGeom prst="ellipse">
            <a:avLst/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15"/>
          <p:cNvSpPr txBox="1"/>
          <p:nvPr/>
        </p:nvSpPr>
        <p:spPr>
          <a:xfrm>
            <a:off x="6175879" y="2399089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smtClean="0">
                <a:solidFill>
                  <a:srgbClr val="FFFFFF"/>
                </a:solidFill>
                <a:latin typeface="Calibri" pitchFamily="34" charset="0"/>
              </a:rPr>
              <a:t>SI</a:t>
            </a:r>
            <a:endParaRPr lang="en-US" sz="1050" dirty="0"/>
          </a:p>
        </p:txBody>
      </p:sp>
      <p:sp>
        <p:nvSpPr>
          <p:cNvPr id="43" name="Text 16"/>
          <p:cNvSpPr txBox="1"/>
          <p:nvPr/>
        </p:nvSpPr>
        <p:spPr>
          <a:xfrm>
            <a:off x="6858000" y="235379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1F3D2B"/>
                </a:solidFill>
                <a:latin typeface="Calibri" pitchFamily="34" charset="0"/>
              </a:rPr>
              <a:t>Expert </a:t>
            </a:r>
            <a:r>
              <a:rPr lang="en-US" sz="1200" b="1" dirty="0" err="1" smtClean="0">
                <a:solidFill>
                  <a:srgbClr val="1F3D2B"/>
                </a:solidFill>
                <a:latin typeface="Calibri" pitchFamily="34" charset="0"/>
              </a:rPr>
              <a:t>sécurité</a:t>
            </a:r>
            <a:r>
              <a:rPr lang="en-US" sz="1200" b="1" dirty="0" smtClean="0">
                <a:solidFill>
                  <a:srgbClr val="1F3D2B"/>
                </a:solidFill>
                <a:latin typeface="Calibri" pitchFamily="34" charset="0"/>
              </a:rPr>
              <a:t> </a:t>
            </a:r>
            <a:r>
              <a:rPr lang="en-US" sz="1200" b="1" dirty="0" err="1" smtClean="0">
                <a:solidFill>
                  <a:srgbClr val="1F3D2B"/>
                </a:solidFill>
                <a:latin typeface="Calibri" pitchFamily="34" charset="0"/>
              </a:rPr>
              <a:t>informatique</a:t>
            </a:r>
            <a:endParaRPr lang="en-US" sz="1200" dirty="0"/>
          </a:p>
        </p:txBody>
      </p:sp>
      <p:sp>
        <p:nvSpPr>
          <p:cNvPr id="44" name="Text 17"/>
          <p:cNvSpPr txBox="1"/>
          <p:nvPr/>
        </p:nvSpPr>
        <p:spPr>
          <a:xfrm>
            <a:off x="6858000" y="2637885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 smtClean="0">
                <a:solidFill>
                  <a:srgbClr val="5C7A64"/>
                </a:solidFill>
                <a:latin typeface="Calibri" pitchFamily="34" charset="0"/>
              </a:rPr>
              <a:t>Sécurité</a:t>
            </a:r>
            <a:r>
              <a:rPr lang="en-US" sz="1050" dirty="0" smtClean="0">
                <a:solidFill>
                  <a:srgbClr val="5C7A64"/>
                </a:solidFill>
                <a:latin typeface="Calibri" pitchFamily="34" charset="0"/>
              </a:rPr>
              <a:t> des </a:t>
            </a:r>
            <a:r>
              <a:rPr lang="en-US" sz="1050" dirty="0" err="1" smtClean="0">
                <a:solidFill>
                  <a:srgbClr val="5C7A64"/>
                </a:solidFill>
                <a:latin typeface="Calibri" pitchFamily="34" charset="0"/>
              </a:rPr>
              <a:t>données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D9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PROPOSITION FINANCIÈRE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total : 4 500 000 FCFA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364678"/>
              </p:ext>
            </p:extLst>
          </p:nvPr>
        </p:nvGraphicFramePr>
        <p:xfrm>
          <a:off x="457200" y="1828800"/>
          <a:ext cx="6035040" cy="3200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 budgétaire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Ressources </a:t>
                      </a:r>
                      <a:r>
                        <a:rPr lang="en-US" sz="1150" dirty="0" err="1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humaines</a:t>
                      </a:r>
                      <a:r>
                        <a:rPr lang="en-US" sz="1150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50" dirty="0" smtClean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 </a:t>
                      </a:r>
                      <a:r>
                        <a:rPr lang="en-US" sz="1150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3 644 000 FCFA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Déplacements &amp; missions terrain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202 000 FCFA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176 000 FCFA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&amp; formation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243 050 FCFA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Licences (Figma Pro)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55 000 FCFA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Provisions pour imprévus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179 950 FCFA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1828800"/>
            <a:ext cx="4967935" cy="914400"/>
          </a:xfrm>
          <a:prstGeom prst="roundRect">
            <a:avLst>
              <a:gd name="adj" fmla="val 7000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699516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— 30 %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920240"/>
            <a:ext cx="2773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1 350 000 FCFA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995160" y="2286000"/>
            <a:ext cx="4510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du </a:t>
            </a:r>
            <a:r>
              <a:rPr lang="en-US" sz="1000" dirty="0" err="1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</a:t>
            </a:r>
            <a:r>
              <a:rPr lang="en-US" sz="100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L1 Rapport de démarrage · L2 Architecture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766560" y="2880360"/>
            <a:ext cx="4967935" cy="914400"/>
          </a:xfrm>
          <a:prstGeom prst="roundRect">
            <a:avLst>
              <a:gd name="adj" fmla="val 7000"/>
            </a:avLst>
          </a:prstGeom>
          <a:solidFill>
            <a:srgbClr val="6D90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 txBox="1"/>
          <p:nvPr/>
        </p:nvSpPr>
        <p:spPr>
          <a:xfrm>
            <a:off x="699516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— 30 %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778240" y="2971800"/>
            <a:ext cx="2773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1 350 000 FCFA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995160" y="3337560"/>
            <a:ext cx="4510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 la version </a:t>
            </a:r>
            <a:r>
              <a:rPr lang="en-US" sz="1000" dirty="0" err="1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bêta</a:t>
            </a:r>
            <a:r>
              <a:rPr lang="en-US" sz="100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L3 Prototype · L4 Version bêta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766560" y="3931920"/>
            <a:ext cx="4967935" cy="914400"/>
          </a:xfrm>
          <a:prstGeom prst="roundRect">
            <a:avLst>
              <a:gd name="adj" fmla="val 7000"/>
            </a:avLst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1"/>
          <p:cNvSpPr txBox="1"/>
          <p:nvPr/>
        </p:nvSpPr>
        <p:spPr>
          <a:xfrm>
            <a:off x="699516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— 40 %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0" y="4023360"/>
            <a:ext cx="2773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1 800 000 FCFA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4389120"/>
            <a:ext cx="4510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Acceptation du rapport final - L5 à L8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0" y="5074920"/>
            <a:ext cx="49679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récurrents post-mission (à charge de CRADESC) : ~354 000 FCFA / an (hébergement, stockage, OTP SMS, CDN). Les 6 premiers mois sont inclus dans le budget de mission.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CANAS · Mbay Diaay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463040"/>
            <a:ext cx="3840480" cy="3840480"/>
          </a:xfrm>
          <a:prstGeom prst="ellipse">
            <a:avLst/>
          </a:prstGeom>
          <a:solidFill>
            <a:srgbClr val="1630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A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PROPOSITION FINANCIÈRE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76656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choisir le Cabinet CANAS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636776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457200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600200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DIGICOOP déjà </a:t>
            </a: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196596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architecture éprouvée, pas un prototype construit de zéro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36792" y="1636776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6336792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67144" y="1600200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Ancrage Niayes documenté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67144" y="196596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AUMN/JAFOWA  connaissance fine des filières et des OP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2743200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TypeScript cohérente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310896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+ Angular + Flutter, une seule équipe, une seule logique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36792" y="2779776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6336792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67144" y="2743200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de compétences garanti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67144" y="310896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source, documentation et formation complète des équipes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11277295" cy="0"/>
          </a:xfrm>
          <a:prstGeom prst="line">
            <a:avLst/>
          </a:prstGeom>
          <a:noFill/>
          <a:ln w="12700">
            <a:solidFill>
              <a:srgbClr val="3551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457200" y="44348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4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restons entièrement disponibles pour tout complément d'information, une présentation de DIGICOOP ou une visite de référence dans les Niayes.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7150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Mbaye NDIAYE  Chef de mission, Cabinet CANAS
</a:t>
            </a:r>
            <a:r>
              <a:rPr lang="en-US" sz="1200" dirty="0">
                <a:solidFill>
                  <a:srgbClr val="A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+221 77 172 81 92   ·   ndiayeagroservice@gmail.com
Ouest Foire, Cité Xandar - Dakar, Sénégal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1595</Words>
  <Application>Microsoft Office PowerPoint</Application>
  <PresentationFormat>Grand écran</PresentationFormat>
  <Paragraphs>317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YOHAN</cp:lastModifiedBy>
  <cp:revision>6</cp:revision>
  <dcterms:created xsi:type="dcterms:W3CDTF">2026-09-16T16:45:47Z</dcterms:created>
  <dcterms:modified xsi:type="dcterms:W3CDTF">2026-09-16T07:47:12Z</dcterms:modified>
</cp:coreProperties>
</file>